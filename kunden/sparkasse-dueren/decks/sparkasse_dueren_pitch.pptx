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Visibility</c:v>
                </c:pt>
              </c:strCache>
            </c:strRef>
          </c:tx>
          <c:spPr>
            <a:solidFill>
              <a:srgbClr val="54C7E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Sparkasse Düren</c:v>
                  </c:pt>
                  <c:pt idx="1">
                    <c:v>Volksbank Euskirchen</c:v>
                  </c:pt>
                  <c:pt idx="2">
                    <c:v>Commerzbank Düren</c:v>
                  </c:pt>
                  <c:pt idx="3">
                    <c:v>Deutsche Bank Düren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</c:v>
                </c:pt>
                <c:pt idx="1">
                  <c:v>13.1</c:v>
                </c:pt>
                <c:pt idx="2">
                  <c:v>3.3</c:v>
                </c:pt>
                <c:pt idx="3">
                  <c:v>3.3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b"/>
        <c:majorGridlines>
          <c:spPr>
            <a:ln w="6350" cap="flat">
              <a:solidFill>
                <a:srgbClr val="2C333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D7DDE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1117"/>
        </a:solidFill>
        <a:ln>
          <a:noFill/>
        </a:ln>
        <a:effectLst/>
      </c:spPr>
    </c:plotArea>
    <c:plotVisOnly val="1"/>
    <c:dispBlanksAs val="span"/>
  </c:chart>
  <c:spPr>
    <a:solidFill>
      <a:srgbClr val="0A1117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Retrieval-Anteil</c:v>
                </c:pt>
              </c:strCache>
            </c:strRef>
          </c:tx>
          <c:spPr>
            <a:solidFill>
              <a:srgbClr val="189EC4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A11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sparkasse-dueren.de</c:v>
                  </c:pt>
                  <c:pt idx="1">
                    <c:v>kreis-dueren.de</c:v>
                  </c:pt>
                  <c:pt idx="2">
                    <c:v>dueren.de</c:v>
                  </c:pt>
                  <c:pt idx="3">
                    <c:v>sparkasse.de</c:v>
                  </c:pt>
                  <c:pt idx="4">
                    <c:v>verbraucherzentrale.de</c:v>
                  </c:pt>
                  <c:pt idx="5">
                    <c:v>youtube.com</c:v>
                  </c:pt>
                  <c:pt idx="6">
                    <c:v>deutsche-rentenversicherung.de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34.4</c:v>
                </c:pt>
                <c:pt idx="1">
                  <c:v>24.6</c:v>
                </c:pt>
                <c:pt idx="2">
                  <c:v>18</c:v>
                </c:pt>
                <c:pt idx="3">
                  <c:v>14.7</c:v>
                </c:pt>
                <c:pt idx="4">
                  <c:v>11.5</c:v>
                </c:pt>
                <c:pt idx="5">
                  <c:v>9.8</c:v>
                </c:pt>
                <c:pt idx="6">
                  <c:v>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0A11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A11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b"/>
        <c:majorGridlines>
          <c:spPr>
            <a:ln w="6350" cap="flat">
              <a:solidFill>
                <a:srgbClr val="E5F4F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37F8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0" y="2286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Potenzialanalyse Sparkasse Düren · August 2026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SUMMARY  ·  1 /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Marktführer in KI-Antworten – aber der Vorsprung ist angreifbar.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2288" y="2423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2288" y="2423160"/>
            <a:ext cx="3657600" cy="73152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0888" y="2651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78,1 %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700888" y="3611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Voice der Sparkasse Düren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00888" y="4114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allen regional-relevanten KI-Antworten der letzten 30 Tage (n = 61 Chats).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67048" y="2423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67048" y="2423160"/>
            <a:ext cx="3657600" cy="73152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95648" y="2651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4495648" y="3611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bei Rentenberatung &amp; Erbe/Geldanlage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495648" y="4114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umsatzstarke Beratungsthemen laufen komplett an Ihnen vorbei.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61808" y="2423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61808" y="2423160"/>
            <a:ext cx="3657600" cy="73152"/>
          </a:xfrm>
          <a:prstGeom prst="rect">
            <a:avLst/>
          </a:prstGeom>
          <a:solidFill>
            <a:srgbClr val="2C3338"/>
          </a:solidFill>
          <a:ln w="12700">
            <a:solidFill>
              <a:srgbClr val="2C33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90408" y="2651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42,9 %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8290408" y="3611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in ChatGPT – größter Wachstumshebel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90408" y="4114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Wettbewerber dort bei 0 % → Sie besetzen den Kanal exklusiv, haben aber 57 PP Delta zum Maximum.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937760"/>
            <a:ext cx="11247120" cy="1234440"/>
          </a:xfrm>
          <a:prstGeom prst="roundRect">
            <a:avLst>
              <a:gd name="adj" fmla="val 5926"/>
            </a:avLst>
          </a:prstGeom>
          <a:solidFill>
            <a:srgbClr val="0A1117"/>
          </a:solidFill>
          <a:ln w="12700">
            <a:solidFill>
              <a:srgbClr val="0A111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50749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LESART  </a:t>
            </a:r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Ihre Marke gewinnt heute die klassische Regionalfrage – und verliert exakt dort, wo margenstarke Beratungsprodukte entschieden werden.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schließen diese Lücken, bevor es Ihre Wettbewerber tun.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04.07.–03.08.2026 (30 Tage, n = 61 Chats)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0" y="2286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Potenzialanalyse Sparkasse Düren · August 2026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SUMMARY  ·  2 /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Signale, die eine sofortige Investition rechtfertigen.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5486400" cy="1737360"/>
          </a:xfrm>
          <a:prstGeom prst="roundRect">
            <a:avLst>
              <a:gd name="adj" fmla="val 3158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3774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1874520" y="23774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Kontoeröffnung ist Ihr Hotspot – und Volksbank drängt rein.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874520" y="30632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der umsatzrelevantesten Kundenfrage „Konto im Kreis Düren eröffnen“ erscheint Volksbank Euskirchen in 2 von 3 KI-Antworten neben Ihnen (66,7 % Visibility). Bei allen anderen 5 Prompts liegt sie unter 25 % – der Wettbewerber hat sein Fokus-Thema klar gewählt.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2148840"/>
            <a:ext cx="5486400" cy="1737360"/>
          </a:xfrm>
          <a:prstGeom prst="roundRect">
            <a:avLst>
              <a:gd name="adj" fmla="val 3158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3774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7543800" y="23774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53 – unter dem Branchenschnitt.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543800" y="30632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(0–100) misst, wie positiv KI-Systeme über eine Marke sprechen; Normalbereich 65–85. Höhere Wettbewerbswerte (Commerzbank 73, Deutsche Bank 56) basieren auf nur 1 auswertbaren Nennung – statistisch nicht belastbar. Bei Ihnen sind 45 Bewertungen repräsentativ und optimierbar.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5486400" cy="1737360"/>
          </a:xfrm>
          <a:prstGeom prst="roundRect">
            <a:avLst>
              <a:gd name="adj" fmla="val 3158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976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74520" y="42976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ist Ihr größter Wachstumshebel.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874520" y="49834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42,9 % Sichtbarkeit bei Ihnen – alle drei Wettbewerber bei 0 %. Damit haben Sie hier das größte Delta zum Maximum (57 PP nach oben, Gemini nur 29, AIO nur 37) und den einzigen KI-Kanal, in dem Sie exklusiv sind.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4069080"/>
            <a:ext cx="5486400" cy="1737360"/>
          </a:xfrm>
          <a:prstGeom prst="roundRect">
            <a:avLst>
              <a:gd name="adj" fmla="val 3158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42976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7543800" y="42976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Lokale Institutionen dominieren die Zitat-Basis.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543800" y="49834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kreis-dueren.de (28 Zitierungen), dueren.de (14), Verbraucherzentrale (15), Deutsche Rentenversicherung (12) und KfW (9) stellen die Quellen der KI. Gezielte PR- &amp; Kooperations-Arbeit macht Sie dort zitierfähig.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5989320"/>
            <a:ext cx="11247120" cy="457200"/>
          </a:xfrm>
          <a:prstGeom prst="roundRect">
            <a:avLst>
              <a:gd name="adj" fmla="val 10000"/>
            </a:avLst>
          </a:prstGeom>
          <a:solidFill>
            <a:srgbClr val="0A1117"/>
          </a:solidFill>
          <a:ln w="12700">
            <a:solidFill>
              <a:srgbClr val="0A11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PROMPT-ANALYSE  ·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0 %-Prompts (Rentenberatung, Erbschaft) sind </a:t>
            </a:r>
            <a:pPr indent="0" marL="0">
              <a:buNone/>
            </a:pPr>
            <a:r>
              <a:rPr lang="en-US" sz="11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semantisch anders belegt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„Rentenberatung“ meint DRV/Behörde, „Was mache ich mit meinem Erbe“ ist Info-Frage. Wir formulieren die Prompts neu und schaffen die passenden Landingpages.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04.07.–03.08.2026 (30 Tage, n = 61 Chats)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0"/>
            <a:ext cx="2103120" cy="137160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0"/>
            <a:ext cx="1737360" cy="1097280"/>
          </a:xfrm>
          <a:prstGeom prst="line">
            <a:avLst/>
          </a:prstGeom>
          <a:noFill/>
          <a:ln w="9525">
            <a:solidFill>
              <a:srgbClr val="54C7E8">
                <a:alpha val="2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5720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· WETTBEWERB &amp; ENGINES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 führen – aber nicht überall gleich stark.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im Wettbewerbsvergleich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· % der KI-Antworten, in denen die Marke genannt wird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514600"/>
          <a:ext cx="548640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630936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nach KI-Engine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3093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 Düren vs. schärfster regionaler Wettbewerber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309360" y="2606040"/>
            <a:ext cx="5486400" cy="822960"/>
          </a:xfrm>
          <a:prstGeom prst="roundRect">
            <a:avLst>
              <a:gd name="adj" fmla="val 5556"/>
            </a:avLst>
          </a:prstGeom>
          <a:solidFill>
            <a:srgbClr val="0D2C35"/>
          </a:solidFill>
          <a:ln w="6350">
            <a:solidFill>
              <a:srgbClr val="2C333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46520" y="26609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46520" y="3017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stärkste Präsenz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412480" y="267919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71.4 %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412480" y="31729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9966960" y="26791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19.0 %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9966960" y="31729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Eus.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309360" y="3497580"/>
            <a:ext cx="5486400" cy="822960"/>
          </a:xfrm>
          <a:prstGeom prst="roundRect">
            <a:avLst>
              <a:gd name="adj" fmla="val 5556"/>
            </a:avLst>
          </a:prstGeom>
          <a:solidFill>
            <a:srgbClr val="0D2C35"/>
          </a:solidFill>
          <a:ln w="6350">
            <a:solidFill>
              <a:srgbClr val="2C33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46520" y="355244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Overview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46520" y="39090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holt auf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412480" y="357073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63.2 %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412480" y="406450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9966960" y="357073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21.1 %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9966960" y="40645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Eus.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309360" y="4389120"/>
            <a:ext cx="5486400" cy="822960"/>
          </a:xfrm>
          <a:prstGeom prst="roundRect">
            <a:avLst>
              <a:gd name="adj" fmla="val 5556"/>
            </a:avLst>
          </a:prstGeom>
          <a:solidFill>
            <a:srgbClr val="0D2C35"/>
          </a:solidFill>
          <a:ln w="6350">
            <a:solidFill>
              <a:srgbClr val="2C33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439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446520" y="4800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größter Hebel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412480" y="446227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42.9 %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8412480" y="495604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9966960" y="44622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0.0 %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9966960" y="4956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Eus.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7200" y="5440680"/>
            <a:ext cx="11247120" cy="960120"/>
          </a:xfrm>
          <a:prstGeom prst="roundRect">
            <a:avLst>
              <a:gd name="adj" fmla="val 4762"/>
            </a:avLst>
          </a:prstGeom>
          <a:solidFill>
            <a:srgbClr val="54C7E8">
              <a:alpha val="20000"/>
            </a:srgbClr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85800" y="550468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 ·  GOOGLE AI OVERVIEW IST IHR REGIONAL WICHTIGSTER KI-KANAL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85800" y="580644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läuft direkt in der Google-Suche und ist mit Google Maps / Local integriert – 21,3 % der Peec-Antworten in diesem Projekt zeigen Map-Ergebnisse.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dort holt Volksbank Euskirchen bereits 21,1 % Sichtbarkeit auf – vor Ihrer Haustür.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04.07.–03.08.2026 (30 Tage, n = 61 Chats)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· KUNDENFRAGEN &amp; QUELLEN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Sie gewinnen – und wo Sie 0 sind.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pro Kundenfrage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5943600" cy="502920"/>
          </a:xfrm>
          <a:prstGeom prst="rect">
            <a:avLst/>
          </a:prstGeom>
          <a:solidFill>
            <a:srgbClr val="F5F9FB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0" y="2377440"/>
            <a:ext cx="2011680" cy="228600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402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Kredit im Kreis Düren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0" y="22402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16352"/>
            <a:ext cx="5943600" cy="502920"/>
          </a:xfrm>
          <a:prstGeom prst="rect">
            <a:avLst/>
          </a:prstGeom>
          <a:solidFill>
            <a:srgbClr val="FFF1EC"/>
          </a:solidFill>
          <a:ln w="19050">
            <a:solidFill>
              <a:srgbClr val="FF6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2697480"/>
            <a:ext cx="1417320" cy="219456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269748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HOTSPOT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931920" y="2953512"/>
            <a:ext cx="2011680" cy="228600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8163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Konto im Kreis Düren eröffnen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0" y="2816352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331720" y="281635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66,7 %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392424"/>
            <a:ext cx="5943600" cy="502920"/>
          </a:xfrm>
          <a:prstGeom prst="rect">
            <a:avLst/>
          </a:prstGeom>
          <a:solidFill>
            <a:srgbClr val="F5F9FB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31920" y="3529584"/>
            <a:ext cx="1341791" cy="228600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39242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Baufinanzierung Kreis Düren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0" y="3392424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67 %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968496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0" y="4105656"/>
            <a:ext cx="893186" cy="2286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96849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Finanzielle Beratung Kreis Düren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0" y="3968496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44 %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544568"/>
            <a:ext cx="5943600" cy="502920"/>
          </a:xfrm>
          <a:prstGeom prst="rect">
            <a:avLst/>
          </a:prstGeom>
          <a:solidFill>
            <a:srgbClr val="F5F9FB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31920" y="4681728"/>
            <a:ext cx="137160" cy="228600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5445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Rentenberatung Kreis Düren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544568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5120640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31920" y="5257800"/>
            <a:ext cx="137160" cy="228600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512064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Erbe &amp; Geldanlage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43600" y="512064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0" y="18288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Top-Quellen der KI-Systeme im Kreis Düren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83680" y="21488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Retrieval-Anteil = Anteil der Chats mit mind. 1 Quelle dieser Domain</a:t>
            </a:r>
            <a:endParaRPr lang="en-US" sz="9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6583680" y="2514600"/>
          <a:ext cx="52120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Shape 33"/>
          <p:cNvSpPr/>
          <p:nvPr/>
        </p:nvSpPr>
        <p:spPr>
          <a:xfrm>
            <a:off x="457200" y="5806440"/>
            <a:ext cx="11247120" cy="594360"/>
          </a:xfrm>
          <a:prstGeom prst="roundRect">
            <a:avLst>
              <a:gd name="adj" fmla="val 9231"/>
            </a:avLst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5800" y="585216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COMPETITIVE HOTSPOT · KONTOERÖFFNUNG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8580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 von 3 KI-Antworten zur Kontoeröffnung erscheint die Volksbank Euskirchen direkt neben Ihnen.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anderer Prompt zeigt so hohe Wettbewerbs-Konzentration – das ist der Kanal, den Sie exklusiv zurückerobern müssen.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04.07.–03.08.2026 (30 Tage, n = 61 Chats)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C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0"/>
            <a:ext cx="2103120" cy="137160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0"/>
            <a:ext cx="1737360" cy="1097280"/>
          </a:xfrm>
          <a:prstGeom prst="line">
            <a:avLst/>
          </a:prstGeom>
          <a:noFill/>
          <a:ln w="9525">
            <a:solidFill>
              <a:srgbClr val="54C7E8">
                <a:alpha val="2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65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286000" cy="411480"/>
          </a:xfrm>
          <a:prstGeom prst="roundRect">
            <a:avLst>
              <a:gd name="adj" fmla="val 17778"/>
            </a:avLst>
          </a:prstGeom>
          <a:solidFill>
            <a:srgbClr val="54C7E8">
              <a:alpha val="20000"/>
            </a:srgbClr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rock together.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57200" y="2880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machen wir Sparkasse Düren zur ersten Adresse in KI-Antworten.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72288" y="3566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0D2C35"/>
          </a:solidFill>
          <a:ln w="9525">
            <a:solidFill>
              <a:srgbClr val="189E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0888" y="3703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0088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QUICK-WIN SPRINT · 6 Wochen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0888" y="4754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Sofort-Optimierung der beiden 0 %-Prompts (Rente, Erbe) &amp; ChatGPT-Content-Pakete für Ihre Top-Produkte.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00888" y="5532120"/>
            <a:ext cx="3200400" cy="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0888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Sichtbarkeits-Zugewinne bereits nach 4–6 Wochen messbar.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267048" y="3566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0D2C35"/>
          </a:solidFill>
          <a:ln w="9525">
            <a:solidFill>
              <a:srgbClr val="189E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95648" y="3703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449564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GEO-CONTENT &amp; AUTORITÄT · fortlaufend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95648" y="4754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LLM-ready Content, strukturierte Daten, Zitationen auf kreis-dueren.de, dueren.de, Verbraucherzentrale, DRV &amp; KfW aufbauen.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95648" y="5532120"/>
            <a:ext cx="3200400" cy="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95648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Aufbau nachhaltiger KI-Autorität, wo Ihre Zielgruppe entscheidet.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061808" y="3566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0D2C35"/>
          </a:solidFill>
          <a:ln w="9525">
            <a:solidFill>
              <a:srgbClr val="189E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90408" y="3703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829040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STEUERUNG · monatlich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90408" y="4754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Peec-AI-Monitoring auf 20–40 Prompts erweitert, Reporting inkl. Sentiment, Share of Voice &amp; Wettbewerbs-Bewegung.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90408" y="5532120"/>
            <a:ext cx="3200400" cy="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90408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Entscheidungsgrundlage jederzeit auf dem Tisch.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6080760"/>
            <a:ext cx="11247120" cy="320040"/>
          </a:xfrm>
          <a:prstGeom prst="roundRect">
            <a:avLst>
              <a:gd name="adj" fmla="val 14286"/>
            </a:avLst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NÄCHSTER SCHRITT   ·   </a:t>
            </a:r>
            <a:pPr algn="ctr" indent="0" marL="0">
              <a:buNone/>
            </a:pPr>
            <a:r>
              <a:rPr lang="en-US" sz="11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starten gemeinsam mit dem Quick-Win-Sprint  ·  eology.de  ·  info@eology.de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0"/>
            <a:ext cx="2103120" cy="137160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0"/>
            <a:ext cx="1737360" cy="1097280"/>
          </a:xfrm>
          <a:prstGeom prst="line">
            <a:avLst/>
          </a:prstGeom>
          <a:noFill/>
          <a:ln w="9525">
            <a:solidFill>
              <a:srgbClr val="54C7E8">
                <a:alpha val="2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65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AI-driven Online Marketing Agency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3840480" cy="3840480"/>
          </a:xfrm>
          <a:prstGeom prst="roundRect">
            <a:avLst>
              <a:gd name="adj" fmla="val 3571"/>
            </a:avLst>
          </a:prstGeom>
          <a:solidFill>
            <a:srgbClr val="54C7E8">
              <a:alpha val="30000"/>
            </a:srgbClr>
          </a:solidFill>
          <a:ln w="12700">
            <a:solidFill>
              <a:srgbClr val="54C7E8"/>
            </a:solidFill>
            <a:prstDash val="solid"/>
          </a:ln>
        </p:spPr>
      </p:sp>
      <p:pic>
        <p:nvPicPr>
          <p:cNvPr id="7" name="Image 0" descr="/home/user/claude-recherche/kunden/sparkasse-dueren/decks/mario_stra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3657600" cy="3657600"/>
          </a:xfrm>
          <a:prstGeom prst="ellipse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754880" y="169164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54C7E8">
              <a:alpha val="20000"/>
            </a:srgbClr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54880" y="1691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ANSPRECHPARTNER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754880" y="22860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STRACK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4754880" y="32004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2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CGO  –  Chief Growth Officer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4754880" y="3794760"/>
            <a:ext cx="1097280" cy="0"/>
          </a:xfrm>
          <a:prstGeom prst="line">
            <a:avLst/>
          </a:prstGeom>
          <a:noFill/>
          <a:ln w="38100">
            <a:solidFill>
              <a:srgbClr val="54C7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754880" y="402336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120640" y="402336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+49 9381 58290 26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754880" y="452628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120640" y="452628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m.strack@eology.de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754880" y="502920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120640" y="502920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eology.de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57200" y="6080760"/>
            <a:ext cx="11247120" cy="365760"/>
          </a:xfrm>
          <a:prstGeom prst="roundRect">
            <a:avLst>
              <a:gd name="adj" fmla="val 12500"/>
            </a:avLst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7200" y="60807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rock together — wir freuen uns auf die Sparkasse Düren.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eology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KI-Sichtbarkeit Sparkasse Düren</dc:title>
  <dc:subject>PptxGenJS Presentation</dc:subject>
  <dc:creator>eology GmbH</dc:creator>
  <cp:lastModifiedBy>eology GmbH</cp:lastModifiedBy>
  <cp:revision>1</cp:revision>
  <dcterms:created xsi:type="dcterms:W3CDTF">2026-08-03T13:51:11Z</dcterms:created>
  <dcterms:modified xsi:type="dcterms:W3CDTF">2026-08-03T13:51:11Z</dcterms:modified>
</cp:coreProperties>
</file>