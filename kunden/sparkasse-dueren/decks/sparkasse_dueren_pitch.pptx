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Visibility</c:v>
                </c:pt>
              </c:strCache>
            </c:strRef>
          </c:tx>
          <c:spPr>
            <a:solidFill>
              <a:srgbClr val="54C7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Sparkasse Düren</c:v>
                  </c:pt>
                  <c:pt idx="1">
                    <c:v>Volksbank Euskirchen</c:v>
                  </c:pt>
                  <c:pt idx="2">
                    <c:v>Commerzbank Düren</c:v>
                  </c:pt>
                  <c:pt idx="3">
                    <c:v>Deutsche Bank Düren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13.1</c:v>
                </c:pt>
                <c:pt idx="2">
                  <c:v>3.3</c:v>
                </c:pt>
                <c:pt idx="3">
                  <c:v>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2C33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7DDE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117"/>
        </a:solidFill>
        <a:ln>
          <a:noFill/>
        </a:ln>
        <a:effectLst/>
      </c:spPr>
    </c:plotArea>
    <c:plotVisOnly val="1"/>
    <c:dispBlanksAs val="span"/>
  </c:chart>
  <c:spPr>
    <a:solidFill>
      <a:srgbClr val="0A11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Retrieval-Anteil</c:v>
                </c:pt>
              </c:strCache>
            </c:strRef>
          </c:tx>
          <c:spPr>
            <a:solidFill>
              <a:srgbClr val="189E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A11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sparkasse-dueren.de</c:v>
                  </c:pt>
                  <c:pt idx="1">
                    <c:v>kreis-dueren.de</c:v>
                  </c:pt>
                  <c:pt idx="2">
                    <c:v>dueren.de</c:v>
                  </c:pt>
                  <c:pt idx="3">
                    <c:v>sparkasse.de</c:v>
                  </c:pt>
                  <c:pt idx="4">
                    <c:v>verbraucherzentrale.de</c:v>
                  </c:pt>
                  <c:pt idx="5">
                    <c:v>youtube.com</c:v>
                  </c:pt>
                  <c:pt idx="6">
                    <c:v>deutsche-rentenversicherung.de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34.4</c:v>
                </c:pt>
                <c:pt idx="1">
                  <c:v>24.6</c:v>
                </c:pt>
                <c:pt idx="2">
                  <c:v>18</c:v>
                </c:pt>
                <c:pt idx="3">
                  <c:v>14.7</c:v>
                </c:pt>
                <c:pt idx="4">
                  <c:v>11.5</c:v>
                </c:pt>
                <c:pt idx="5">
                  <c:v>9.8</c:v>
                </c:pt>
                <c:pt idx="6">
                  <c:v>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0A111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11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5F4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F8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228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Potenzialanalyse Sparkasse Düren · August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" cy="457200"/>
          </a:xfrm>
          <a:prstGeom prst="rect">
            <a:avLst/>
          </a:prstGeom>
          <a:solidFill>
            <a:srgbClr val="54C7E8"/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SUMMARY  ·  1 /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Marktführer in KI-Antworten – aber der Vorsprung ist angreifbar.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2288" y="2423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2288" y="2423160"/>
            <a:ext cx="3657600" cy="73152"/>
          </a:xfrm>
          <a:prstGeom prst="rect">
            <a:avLst/>
          </a:prstGeom>
          <a:solidFill>
            <a:srgbClr val="189EC4"/>
          </a:solidFill>
          <a:ln w="12700">
            <a:solidFill>
              <a:srgbClr val="189E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888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78,1 %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00888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 der Sparkasse Düren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0888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allen regional-relevanten KI-Antworten der letzten 30 Tage (n = 61 Chats).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67048" y="2423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7048" y="2423160"/>
            <a:ext cx="3657600" cy="7315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648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495648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Sichtbarkeit bei Rentenberatung &amp; Erbe/Geldanlage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95648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umsatzstarke Beratungsthemen laufen komplett an Ihnen vorbei.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61808" y="2423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1808" y="2423160"/>
            <a:ext cx="3657600" cy="73152"/>
          </a:xfrm>
          <a:prstGeom prst="rect">
            <a:avLst/>
          </a:prstGeom>
          <a:solidFill>
            <a:srgbClr val="2C3338"/>
          </a:solidFill>
          <a:ln w="12700">
            <a:solidFill>
              <a:srgbClr val="2C33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408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C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42,9 %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290408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Sichtbarkeit in ChatGPT – größter Wachstumshebel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0408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Wettbewerber dort bei 0 % → Sie besetzen den Kanal exklusiv, haben aber 57 PP Delta zum Maximum.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0A1117"/>
          </a:solidFill>
          <a:ln w="12700">
            <a:solidFill>
              <a:srgbClr val="0A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300" kern="0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LESART  </a:t>
            </a:r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Marke gewinnt heute die klassische Regionalfrage – und verliert exakt dort, wo margenstarke Beratungsprodukte entschieden werden.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schließen diese Lücken, bevor es Ihre Wettbewerber tun.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 GmbH  ·  KI-Sichtbarkeit Sparkasse Düren  ·  Peec AI Monitoring 04.07.–03.08.2026 (30 Tage, n = 61 Chats)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228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Potenzialanalyse Sparkasse Düren · August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" cy="457200"/>
          </a:xfrm>
          <a:prstGeom prst="rect">
            <a:avLst/>
          </a:prstGeom>
          <a:solidFill>
            <a:srgbClr val="54C7E8"/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SUMMARY  ·  2 /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Signale, die eine sofortige Investition rechtfertigen.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00" cy="2057400"/>
          </a:xfrm>
          <a:prstGeom prst="roundRect">
            <a:avLst>
              <a:gd name="adj" fmla="val 266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874520" y="2423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Volksbank Euskirchen holt strategisch auf.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74520" y="32004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„Konto im Kreis Düren eröffnen“ bereits 66,7 % Sichtbarkeit; in Google AI Overview über alle Prompts hinweg 21,1 % (Sie: 63,2 %). Belegt: aktive Konkurrenz um Ihre kaufentscheidenden Kundenfragen.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5486400" cy="2057400"/>
          </a:xfrm>
          <a:prstGeom prst="roundRect">
            <a:avLst>
              <a:gd name="adj" fmla="val 266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423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543800" y="2423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53 – unter dem Branchenschnitt.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3800" y="32004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(0–100) misst, wie positiv KI-Systeme über eine Marke sprechen; Normalbereich 65–85. Höhere Wettbewerbswerte (Commerzbank 73, Deutsche Bank 56) basieren auf nur 1 auswertbaren Nennung – statistisch nicht belastbar. Bei Ihnen sind 45 Bewertungen repräsentativ und optimierbar.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5486400" cy="2057400"/>
          </a:xfrm>
          <a:prstGeom prst="roundRect">
            <a:avLst>
              <a:gd name="adj" fmla="val 266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663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74520" y="4663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ist Ihr größter Wachstumshebel.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5440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42,9 % Sichtbarkeit bei Ihnen – alle drei Wettbewerber bei 0 %. Damit haben Sie hier das größte Delta zum Maximum (57 PP nach oben, Gemini nur 29, AIO nur 37) und den einzigen KI-Kanal, in dem Sie exklusiv sind.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4434840"/>
            <a:ext cx="5486400" cy="2057400"/>
          </a:xfrm>
          <a:prstGeom prst="roundRect">
            <a:avLst>
              <a:gd name="adj" fmla="val 2667"/>
            </a:avLst>
          </a:prstGeom>
          <a:solidFill>
            <a:srgbClr val="F5F9FB"/>
          </a:solidFill>
          <a:ln w="12700">
            <a:solidFill>
              <a:srgbClr val="E5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663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543800" y="4663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Institutionen dominieren die Zitat-Basis.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43800" y="5440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kreis-dueren.de (28 Zitierungen), dueren.de (14), Verbraucherzentrale (15), Deutsche Rentenversicherung (12) und KfW (9) stellen die Quellen der KI. Gezielte PR- &amp; Kooperations-Arbeit macht Sie dort zitierfähig.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 GmbH  ·  KI-Sichtbarkeit Sparkasse Düren  ·  Peec AI Monitoring 04.07.–03.08.2026 (30 Tage, n = 61 Chats)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0"/>
            <a:ext cx="2103120" cy="1371600"/>
          </a:xfrm>
          <a:prstGeom prst="line">
            <a:avLst/>
          </a:prstGeom>
          <a:noFill/>
          <a:ln w="9525">
            <a:solidFill>
              <a:srgbClr val="54C7E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0"/>
            <a:ext cx="1737360" cy="1097280"/>
          </a:xfrm>
          <a:prstGeom prst="line">
            <a:avLst/>
          </a:prstGeom>
          <a:noFill/>
          <a:ln w="9525">
            <a:solidFill>
              <a:srgbClr val="54C7E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37160" cy="457200"/>
          </a:xfrm>
          <a:prstGeom prst="rect">
            <a:avLst/>
          </a:prstGeom>
          <a:solidFill>
            <a:srgbClr val="54C7E8"/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· WETTBEWERB &amp; ENGINES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führen – aber nicht überall gleich stark.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Sichtbarkeit im Wettbewerbsvergleich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· % der KI-Antworten, in denen die Marke genannt wird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514600"/>
          <a:ext cx="54864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Sichtbarkeit nach KI-Engine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Sparkasse Düren vs. schärfster regionaler Wettbewerber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2606040"/>
            <a:ext cx="5486400" cy="822960"/>
          </a:xfrm>
          <a:prstGeom prst="roundRect">
            <a:avLst>
              <a:gd name="adj" fmla="val 5556"/>
            </a:avLst>
          </a:prstGeom>
          <a:solidFill>
            <a:srgbClr val="0D2C35"/>
          </a:solidFill>
          <a:ln w="6350">
            <a:solidFill>
              <a:srgbClr val="2C33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6609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stärkste Präsenz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2679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71.4 %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412480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Sparkasse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966960" y="2679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19.0 %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966960" y="3172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Volksbank Eus.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09360" y="3497580"/>
            <a:ext cx="5486400" cy="822960"/>
          </a:xfrm>
          <a:prstGeom prst="roundRect">
            <a:avLst>
              <a:gd name="adj" fmla="val 5556"/>
            </a:avLst>
          </a:prstGeom>
          <a:solidFill>
            <a:srgbClr val="0D2C35"/>
          </a:solidFill>
          <a:ln w="6350">
            <a:solidFill>
              <a:srgbClr val="2C33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5524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Overview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46520" y="39090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Volksbank holt auf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412480" y="35707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63.2 %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412480" y="40645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Sparkasse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966960" y="35707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21.1 %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966960" y="40645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Volksbank Eus.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09360" y="4389120"/>
            <a:ext cx="5486400" cy="822960"/>
          </a:xfrm>
          <a:prstGeom prst="roundRect">
            <a:avLst>
              <a:gd name="adj" fmla="val 5556"/>
            </a:avLst>
          </a:prstGeom>
          <a:solidFill>
            <a:srgbClr val="0D2C35"/>
          </a:solidFill>
          <a:ln w="6350">
            <a:solidFill>
              <a:srgbClr val="2C33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46520" y="4800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größter Hebel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412480" y="44622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42.9 %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412480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Sparkasse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966960" y="44622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0.0 %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9966960" y="4956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Volksbank Eus.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5440680"/>
            <a:ext cx="11247120" cy="960120"/>
          </a:xfrm>
          <a:prstGeom prst="roundRect">
            <a:avLst>
              <a:gd name="adj" fmla="val 4762"/>
            </a:avLst>
          </a:prstGeom>
          <a:solidFill>
            <a:srgbClr val="54C7E8">
              <a:alpha val="20000"/>
            </a:srgbClr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5504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·  GOOGLE AI OVERVIEW IST IHR REGIONAL WICHTIGSTER KI-KANAL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" y="58064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läuft direkt in der Google-Suche und ist mit Google Maps / Local integriert – 21,3 % der Peec-Antworten in diesem Projekt zeigen Map-Ergebnisse.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dort holt Volksbank Euskirchen bereits 21,1 % Sichtbarkeit auf – vor Ihrer Haustür.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 GmbH  ·  KI-Sichtbarkeit Sparkasse Düren  ·  Peec AI Monitoring 04.07.–03.08.2026 (30 Tage, n = 61 Chats)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457200"/>
          </a:xfrm>
          <a:prstGeom prst="rect">
            <a:avLst/>
          </a:prstGeom>
          <a:solidFill>
            <a:srgbClr val="54C7E8"/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· KUNDENFRAGEN &amp; QUELLEN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Sie gewinnen – und wo Sie 0 sind.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Sichtbarkeit pro Kundenfrage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943600" cy="502920"/>
          </a:xfrm>
          <a:prstGeom prst="rect">
            <a:avLst/>
          </a:prstGeom>
          <a:solidFill>
            <a:srgbClr val="F5F9FB"/>
          </a:solidFill>
          <a:ln w="6350">
            <a:solidFill>
              <a:srgbClr val="E5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2377440"/>
            <a:ext cx="2011680" cy="228600"/>
          </a:xfrm>
          <a:prstGeom prst="rect">
            <a:avLst/>
          </a:prstGeom>
          <a:solidFill>
            <a:srgbClr val="189EC4"/>
          </a:solidFill>
          <a:ln w="12700">
            <a:solidFill>
              <a:srgbClr val="189E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 im Kreis Düren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240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953512"/>
            <a:ext cx="2011680" cy="228600"/>
          </a:xfrm>
          <a:prstGeom prst="rect">
            <a:avLst/>
          </a:prstGeom>
          <a:solidFill>
            <a:srgbClr val="189EC4"/>
          </a:solidFill>
          <a:ln w="12700">
            <a:solidFill>
              <a:srgbClr val="189E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163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im Kreis Düren eröffnen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8163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8163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Volksbank auch 66,7 %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5943600" cy="502920"/>
          </a:xfrm>
          <a:prstGeom prst="rect">
            <a:avLst/>
          </a:prstGeom>
          <a:solidFill>
            <a:srgbClr val="F5F9FB"/>
          </a:solidFill>
          <a:ln w="6350">
            <a:solidFill>
              <a:srgbClr val="E5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3529584"/>
            <a:ext cx="1341791" cy="228600"/>
          </a:xfrm>
          <a:prstGeom prst="rect">
            <a:avLst/>
          </a:prstGeom>
          <a:solidFill>
            <a:srgbClr val="189EC4"/>
          </a:solidFill>
          <a:ln w="12700">
            <a:solidFill>
              <a:srgbClr val="189E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924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Baufinanzierung Kreis Düren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39242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4105656"/>
            <a:ext cx="893186" cy="228600"/>
          </a:xfrm>
          <a:prstGeom prst="rect">
            <a:avLst/>
          </a:prstGeom>
          <a:solidFill>
            <a:srgbClr val="54C7E8"/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684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Finanzielle Beratung Kreis Düren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39684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5943600" cy="502920"/>
          </a:xfrm>
          <a:prstGeom prst="rect">
            <a:avLst/>
          </a:prstGeom>
          <a:solidFill>
            <a:srgbClr val="F5F9FB"/>
          </a:solidFill>
          <a:ln w="6350">
            <a:solidFill>
              <a:srgbClr val="E5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4681728"/>
            <a:ext cx="137160" cy="2286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44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Rentenberatung Kreis Düren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5445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F4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5257800"/>
            <a:ext cx="137160" cy="2286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120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Erbe &amp; Geldanlage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5120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Top-Quellen der KI-Systeme im Kreis Düren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2148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Retrieval-Anteil = Anteil der Chats mit mind. 1 Quelle dieser Domain</a:t>
            </a:r>
            <a:endParaRPr lang="en-US" sz="9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83680" y="251460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A1117"/>
          </a:solidFill>
          <a:ln w="12700">
            <a:solidFill>
              <a:srgbClr val="0A111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Institutionelle Quellen (kreis-dueren.de, Verbraucherzentrale, KfW, Deutsche Rentenversicherung) dominieren – dort platzieren wir Sie durch digitale PR und Content-Kooperationen.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 GmbH  ·  KI-Sichtbarkeit Sparkasse Düren  ·  Peec AI Monitoring 04.07.–03.08.2026 (30 Tage, n = 61 Chats)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0"/>
            <a:ext cx="2103120" cy="1371600"/>
          </a:xfrm>
          <a:prstGeom prst="line">
            <a:avLst/>
          </a:prstGeom>
          <a:noFill/>
          <a:ln w="9525">
            <a:solidFill>
              <a:srgbClr val="54C7E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0"/>
            <a:ext cx="1737360" cy="1097280"/>
          </a:xfrm>
          <a:prstGeom prst="line">
            <a:avLst/>
          </a:prstGeom>
          <a:noFill/>
          <a:ln w="9525">
            <a:solidFill>
              <a:srgbClr val="54C7E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54C7E8">
              <a:alpha val="20000"/>
            </a:srgbClr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rock together.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machen wir Sparkasse Düren zur ersten Adresse in KI-Antworten.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2288" y="3566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0D2C35"/>
          </a:solidFill>
          <a:ln w="9525">
            <a:solidFill>
              <a:srgbClr val="189E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888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00888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SPRINT · 6 Wochen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0888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Sofort-Optimierung der beiden 0 %-Prompts (Rente, Erbe) &amp; ChatGPT-Content-Pakete für Ihre Top-Produkte.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0888" y="5532120"/>
            <a:ext cx="3200400" cy="0"/>
          </a:xfrm>
          <a:prstGeom prst="line">
            <a:avLst/>
          </a:prstGeom>
          <a:noFill/>
          <a:ln w="9525">
            <a:solidFill>
              <a:srgbClr val="54C7E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888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Sichtbarkeits-Zugewinne bereits nach 4–6 Wochen messbar.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67048" y="3566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0D2C35"/>
          </a:solidFill>
          <a:ln w="9525">
            <a:solidFill>
              <a:srgbClr val="189E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648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495648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GEO-CONTENT &amp; AUTORITÄT · fortlaufend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5648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LLM-ready Content, strukturierte Daten, Zitationen auf kreis-dueren.de, dueren.de, Verbraucherzentrale, DRV &amp; KfW aufbauen.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95648" y="5532120"/>
            <a:ext cx="3200400" cy="0"/>
          </a:xfrm>
          <a:prstGeom prst="line">
            <a:avLst/>
          </a:prstGeom>
          <a:noFill/>
          <a:ln w="9525">
            <a:solidFill>
              <a:srgbClr val="54C7E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5648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 nachhaltiger KI-Autorität, wo Ihre Zielgruppe entscheidet.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61808" y="3566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0D2C35"/>
          </a:solidFill>
          <a:ln w="9525">
            <a:solidFill>
              <a:srgbClr val="189E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0408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290408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STEUERUNG · monatlich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90408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Peec-AI-Monitoring auf 20–40 Prompts erweitert, Reporting inkl. Sentiment, Share of Voice &amp; Wettbewerbs-Bewegung.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90408" y="5532120"/>
            <a:ext cx="3200400" cy="0"/>
          </a:xfrm>
          <a:prstGeom prst="line">
            <a:avLst/>
          </a:prstGeom>
          <a:noFill/>
          <a:ln w="9525">
            <a:solidFill>
              <a:srgbClr val="54C7E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0408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Entscheidungsgrundlage jederzeit auf dem Tisch.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6080760"/>
            <a:ext cx="11247120" cy="320040"/>
          </a:xfrm>
          <a:prstGeom prst="roundRect">
            <a:avLst>
              <a:gd name="adj" fmla="val 14286"/>
            </a:avLst>
          </a:prstGeom>
          <a:solidFill>
            <a:srgbClr val="54C7E8"/>
          </a:solidFill>
          <a:ln w="12700">
            <a:solidFill>
              <a:srgbClr val="54C7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   ·   </a:t>
            </a:r>
            <a:pPr algn="ctr" indent="0" marL="0">
              <a:buNone/>
            </a:pPr>
            <a:r>
              <a:rPr lang="en-US" sz="1100" b="1" dirty="0">
                <a:solidFill>
                  <a:srgbClr val="0A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starten gemeinsam mit dem Quick-Win-Sprint  ·  eology.de  ·  info@eology.de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eology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KI-Sichtbarkeit Sparkasse Düren</dc:title>
  <dc:subject>PptxGenJS Presentation</dc:subject>
  <dc:creator>eology GmbH</dc:creator>
  <cp:lastModifiedBy>eology GmbH</cp:lastModifiedBy>
  <cp:revision>1</cp:revision>
  <dcterms:created xsi:type="dcterms:W3CDTF">2026-08-03T12:51:25Z</dcterms:created>
  <dcterms:modified xsi:type="dcterms:W3CDTF">2026-08-03T12:51:25Z</dcterms:modified>
</cp:coreProperties>
</file>